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9" r:id="rId3"/>
    <p:sldId id="270" r:id="rId4"/>
    <p:sldId id="257" r:id="rId5"/>
    <p:sldId id="258" r:id="rId6"/>
    <p:sldId id="263" r:id="rId7"/>
    <p:sldId id="264" r:id="rId8"/>
    <p:sldId id="259" r:id="rId9"/>
    <p:sldId id="260" r:id="rId10"/>
    <p:sldId id="268" r:id="rId11"/>
    <p:sldId id="262" r:id="rId12"/>
    <p:sldId id="265"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73" autoAdjust="0"/>
    <p:restoredTop sz="94660"/>
  </p:normalViewPr>
  <p:slideViewPr>
    <p:cSldViewPr>
      <p:cViewPr varScale="1">
        <p:scale>
          <a:sx n="65" d="100"/>
          <a:sy n="65" d="100"/>
        </p:scale>
        <p:origin x="-1304"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72ACDE-B65D-45C7-B303-E46554E009E3}"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2ACDE-B65D-45C7-B303-E46554E009E3}"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972ACDE-B65D-45C7-B303-E46554E009E3}"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972ACDE-B65D-45C7-B303-E46554E009E3}"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72ACDE-B65D-45C7-B303-E46554E009E3}" type="datetimeFigureOut">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72ACDE-B65D-45C7-B303-E46554E009E3}" type="datetimeFigureOut">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2ACDE-B65D-45C7-B303-E46554E009E3}" type="datetimeFigureOut">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72ACDE-B65D-45C7-B303-E46554E009E3}"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72ACDE-B65D-45C7-B303-E46554E009E3}"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2ACDE-B65D-45C7-B303-E46554E009E3}"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2ACDE-B65D-45C7-B303-E46554E009E3}"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A415F-294B-4EE6-8372-489B3DC9B66B}" type="slidenum">
              <a:rPr lang="en-US" smtClean="0"/>
              <a:t>‹#›</a:t>
            </a:fld>
            <a:endParaRPr lang="en-US"/>
          </a:p>
        </p:txBody>
      </p:sp>
    </p:spTree>
  </p:cSld>
  <p:clrMapOvr>
    <a:masterClrMapping/>
  </p:clrMapOvr>
  <p:transition spd="med" advTm="0">
    <p:sndAc>
      <p:stSnd>
        <p:snd r:embed="rId1" name="voltage.wav" builtIn="1"/>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2ACDE-B65D-45C7-B303-E46554E009E3}" type="datetimeFigureOut">
              <a:rPr lang="en-US" smtClean="0"/>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A415F-294B-4EE6-8372-489B3DC9B66B}"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Tm="0">
    <p:sndAc>
      <p:stSnd>
        <p:snd r:embed="rId13" name="voltage.wav" builtIn="1"/>
      </p:stSnd>
    </p:sndAc>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audio" Target="../media/audio3.wav"/><Relationship Id="rId1" Type="http://schemas.openxmlformats.org/officeDocument/2006/relationships/audio" Target="../media/audio2.wav"/><Relationship Id="rId6" Type="http://schemas.openxmlformats.org/officeDocument/2006/relationships/hyperlink" Target="https://github.com/usman19zafar/DAIS10_Pyton_Library_Project" TargetMode="External"/><Relationship Id="rId5" Type="http://schemas.openxmlformats.org/officeDocument/2006/relationships/hyperlink" Target="https://zenodo.org/records/18684292" TargetMode="Externa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wav"/><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772400" cy="1470025"/>
          </a:xfrm>
        </p:spPr>
        <p:txBody>
          <a:bodyPr>
            <a:normAutofit/>
          </a:bodyPr>
          <a:lstStyle/>
          <a:p>
            <a:r>
              <a:rPr lang="en-US" sz="4600" dirty="0" smtClean="0">
                <a:solidFill>
                  <a:srgbClr val="FFC000"/>
                </a:solidFill>
                <a:latin typeface="Agency FB" pitchFamily="34" charset="0"/>
                <a:cs typeface="Arial" pitchFamily="34" charset="0"/>
              </a:rPr>
              <a:t>DAIS-10 </a:t>
            </a:r>
            <a:r>
              <a:rPr lang="en-US" dirty="0" smtClean="0">
                <a:solidFill>
                  <a:srgbClr val="FFC000"/>
                </a:solidFill>
                <a:latin typeface="Agency FB" pitchFamily="34" charset="0"/>
                <a:cs typeface="Arial" pitchFamily="34" charset="0"/>
              </a:rPr>
              <a:t/>
            </a:r>
            <a:br>
              <a:rPr lang="en-US" dirty="0" smtClean="0">
                <a:solidFill>
                  <a:srgbClr val="FFC000"/>
                </a:solidFill>
                <a:latin typeface="Agency FB" pitchFamily="34" charset="0"/>
                <a:cs typeface="Arial" pitchFamily="34" charset="0"/>
              </a:rPr>
            </a:br>
            <a:r>
              <a:rPr lang="en-US" sz="2800" dirty="0" smtClean="0">
                <a:solidFill>
                  <a:srgbClr val="FFC000"/>
                </a:solidFill>
                <a:latin typeface="Agency FB" pitchFamily="34" charset="0"/>
                <a:cs typeface="Arial" pitchFamily="34" charset="0"/>
              </a:rPr>
              <a:t>By Usman Zafar </a:t>
            </a:r>
            <a:r>
              <a:rPr lang="en-US" sz="2800" dirty="0" err="1" smtClean="0">
                <a:solidFill>
                  <a:srgbClr val="FFC000"/>
                </a:solidFill>
                <a:latin typeface="Agency FB" pitchFamily="34" charset="0"/>
                <a:cs typeface="Arial" pitchFamily="34" charset="0"/>
              </a:rPr>
              <a:t>Ph.D</a:t>
            </a:r>
            <a:endParaRPr lang="en-US" sz="2800" dirty="0">
              <a:solidFill>
                <a:srgbClr val="FFC000"/>
              </a:solidFill>
              <a:latin typeface="Agency FB" pitchFamily="34" charset="0"/>
              <a:cs typeface="Arial" pitchFamily="34" charset="0"/>
            </a:endParaRPr>
          </a:p>
        </p:txBody>
      </p:sp>
      <p:sp>
        <p:nvSpPr>
          <p:cNvPr id="3" name="Subtitle 2"/>
          <p:cNvSpPr>
            <a:spLocks noGrp="1"/>
          </p:cNvSpPr>
          <p:nvPr>
            <p:ph type="subTitle" idx="1"/>
          </p:nvPr>
        </p:nvSpPr>
        <p:spPr>
          <a:xfrm>
            <a:off x="1219200" y="2362200"/>
            <a:ext cx="6781800" cy="3276600"/>
          </a:xfrm>
        </p:spPr>
        <p:style>
          <a:lnRef idx="0">
            <a:schemeClr val="accent6"/>
          </a:lnRef>
          <a:fillRef idx="3">
            <a:schemeClr val="accent6"/>
          </a:fillRef>
          <a:effectRef idx="3">
            <a:schemeClr val="accent6"/>
          </a:effectRef>
          <a:fontRef idx="minor">
            <a:schemeClr val="lt1"/>
          </a:fontRef>
        </p:style>
        <p:txBody>
          <a:bodyPr>
            <a:normAutofit/>
          </a:bodyPr>
          <a:lstStyle/>
          <a:p>
            <a:r>
              <a:rPr lang="en-US" sz="2800" b="1" dirty="0" smtClean="0">
                <a:solidFill>
                  <a:schemeClr val="bg1"/>
                </a:solidFill>
                <a:latin typeface="Agency FB" pitchFamily="34" charset="0"/>
                <a:cs typeface="Arial" pitchFamily="34" charset="0"/>
              </a:rPr>
              <a:t>Theory:</a:t>
            </a:r>
          </a:p>
          <a:p>
            <a:r>
              <a:rPr lang="en-US" sz="2800" b="1" dirty="0" smtClean="0">
                <a:latin typeface="Agency FB" pitchFamily="34" charset="0"/>
                <a:cs typeface="Arial" pitchFamily="34" charset="0"/>
              </a:rPr>
              <a:t> </a:t>
            </a:r>
            <a:r>
              <a:rPr lang="en-US" sz="2800" b="1" dirty="0" smtClean="0">
                <a:latin typeface="Agency FB" pitchFamily="34" charset="0"/>
                <a:cs typeface="Arial" pitchFamily="34" charset="0"/>
                <a:hlinkClick r:id="rId5"/>
              </a:rPr>
              <a:t>https://zenodo.org/records/18684292</a:t>
            </a:r>
            <a:endParaRPr lang="en-US" sz="2800" b="1" dirty="0" smtClean="0">
              <a:latin typeface="Agency FB" pitchFamily="34" charset="0"/>
              <a:cs typeface="Arial" pitchFamily="34" charset="0"/>
            </a:endParaRPr>
          </a:p>
          <a:p>
            <a:r>
              <a:rPr lang="en-US" sz="2800" b="1" dirty="0" smtClean="0">
                <a:latin typeface="Agency FB" pitchFamily="34" charset="0"/>
                <a:cs typeface="Arial" pitchFamily="34" charset="0"/>
              </a:rPr>
              <a:t>DOI = 10.5281/zenodo.18684292</a:t>
            </a:r>
          </a:p>
          <a:p>
            <a:endParaRPr lang="en-US" sz="2800" b="1" dirty="0" smtClean="0">
              <a:solidFill>
                <a:schemeClr val="bg1"/>
              </a:solidFill>
              <a:latin typeface="Agency FB" pitchFamily="34" charset="0"/>
              <a:cs typeface="Arial" pitchFamily="34" charset="0"/>
            </a:endParaRPr>
          </a:p>
          <a:p>
            <a:r>
              <a:rPr lang="en-US" sz="2800" b="1" dirty="0" smtClean="0">
                <a:solidFill>
                  <a:schemeClr val="bg1"/>
                </a:solidFill>
                <a:latin typeface="Agency FB" pitchFamily="34" charset="0"/>
                <a:cs typeface="Arial" pitchFamily="34" charset="0"/>
              </a:rPr>
              <a:t>Application:</a:t>
            </a:r>
          </a:p>
          <a:p>
            <a:r>
              <a:rPr lang="en-US" sz="1900" b="1" dirty="0" smtClean="0">
                <a:latin typeface="Agency FB" pitchFamily="34" charset="0"/>
                <a:cs typeface="Arial" pitchFamily="34" charset="0"/>
                <a:hlinkClick r:id="rId6"/>
              </a:rPr>
              <a:t>https://github.com/usman19zafar/DAIS10_Pyton_Library_Project</a:t>
            </a:r>
            <a:endParaRPr lang="en-US" sz="1900" b="1" dirty="0" smtClean="0">
              <a:latin typeface="Agency FB" pitchFamily="34" charset="0"/>
              <a:cs typeface="Arial" pitchFamily="34" charset="0"/>
            </a:endParaRPr>
          </a:p>
          <a:p>
            <a:endParaRPr lang="en-US" dirty="0">
              <a:latin typeface="Agency FB" pitchFamily="34" charset="0"/>
            </a:endParaRPr>
          </a:p>
          <a:p>
            <a:endParaRPr lang="en-US" dirty="0"/>
          </a:p>
        </p:txBody>
      </p:sp>
      <p:pic>
        <p:nvPicPr>
          <p:cNvPr id="4" name="j0214098.wav">
            <a:hlinkClick r:id="" action="ppaction://media"/>
          </p:cNvPr>
          <p:cNvPicPr>
            <a:picLocks noRot="1" noChangeAspect="1"/>
          </p:cNvPicPr>
          <p:nvPr>
            <a:wavAudioFile r:embed="rId1" name="j0214098.wav"/>
          </p:nvPr>
        </p:nvPicPr>
        <p:blipFill>
          <a:blip r:embed="rId7"/>
          <a:stretch>
            <a:fillRect/>
          </a:stretch>
        </p:blipFill>
        <p:spPr>
          <a:xfrm>
            <a:off x="4470400" y="3327400"/>
            <a:ext cx="203200" cy="203200"/>
          </a:xfrm>
          <a:prstGeom prst="rect">
            <a:avLst/>
          </a:prstGeom>
        </p:spPr>
      </p:pic>
      <p:pic>
        <p:nvPicPr>
          <p:cNvPr id="5" name="ELPHRG01.wav">
            <a:hlinkClick r:id="" action="ppaction://media"/>
          </p:cNvPr>
          <p:cNvPicPr>
            <a:picLocks noRot="1" noChangeAspect="1"/>
          </p:cNvPicPr>
          <p:nvPr>
            <a:wavAudioFile r:embed="rId2" name="ELPHRG01.wav"/>
          </p:nvPr>
        </p:nvPicPr>
        <p:blipFill>
          <a:blip r:embed="rId8"/>
          <a:stretch>
            <a:fillRect/>
          </a:stretch>
        </p:blipFill>
        <p:spPr>
          <a:xfrm>
            <a:off x="4470400" y="3327400"/>
            <a:ext cx="203200" cy="203200"/>
          </a:xfrm>
          <a:prstGeom prst="rect">
            <a:avLst/>
          </a:prstGeom>
        </p:spPr>
      </p:pic>
    </p:spTree>
  </p:cSld>
  <p:clrMapOvr>
    <a:masterClrMapping/>
  </p:clrMapOvr>
  <p:transition spd="med" advTm="5437">
    <p:dissolve/>
    <p:sndAc>
      <p:stSnd>
        <p:snd r:embed="rId4" name="voltage.wav" builtIn="1"/>
      </p:stSnd>
    </p:sndAc>
  </p:transition>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audio>
              <p:cMediaNode>
                <p:cTn id="3" fill="hold" display="0">
                  <p:stCondLst>
                    <p:cond delay="indefinite"/>
                  </p:stCondLst>
                  <p:endCondLst>
                    <p:cond evt="onNext" delay="0">
                      <p:tgtEl>
                        <p:sldTgt/>
                      </p:tgtEl>
                    </p:cond>
                    <p:cond evt="onPrev" delay="0">
                      <p:tgtEl>
                        <p:sldTgt/>
                      </p:tgtEl>
                    </p:cond>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772400" cy="3352800"/>
          </a:xfrm>
        </p:spPr>
        <p:txBody>
          <a:bodyPr>
            <a:noAutofit/>
          </a:bodyPr>
          <a:lstStyle/>
          <a:p>
            <a:r>
              <a:rPr lang="en-US" sz="2800" u="sng" dirty="0" smtClean="0">
                <a:solidFill>
                  <a:srgbClr val="FFC000"/>
                </a:solidFill>
                <a:latin typeface="Agency FB" pitchFamily="34" charset="0"/>
                <a:cs typeface="Arial" pitchFamily="34" charset="0"/>
              </a:rPr>
              <a:t>“</a:t>
            </a:r>
            <a:r>
              <a:rPr lang="en-US" sz="2800" u="sng" dirty="0">
                <a:solidFill>
                  <a:srgbClr val="FFC000"/>
                </a:solidFill>
                <a:latin typeface="Agency FB" pitchFamily="34" charset="0"/>
                <a:cs typeface="Arial" pitchFamily="34" charset="0"/>
              </a:rPr>
              <a:t>Any new idea is nothing more than a new combination of old elements. The ability to make those new combinations depends on our ability to see relationships and connecting dots. Some are able to do this because they’ve had more experiences, or thought more about those experiences, than other people. They are better at connecting the dots because they have more dots to connect. Most people may know a lot, but only about a very narrow field. So they don’t have enough dots to connect, and they end up with predictable, linear solutions.”</a:t>
            </a:r>
            <a:r>
              <a:rPr lang="en-US" sz="2800" dirty="0">
                <a:solidFill>
                  <a:srgbClr val="FFC000"/>
                </a:solidFill>
                <a:latin typeface="Agency FB" pitchFamily="34" charset="0"/>
                <a:cs typeface="Arial" pitchFamily="34" charset="0"/>
              </a:rPr>
              <a:t> </a:t>
            </a:r>
            <a:endParaRPr lang="en-US" sz="2800" dirty="0">
              <a:solidFill>
                <a:srgbClr val="FFC000"/>
              </a:solidFill>
              <a:latin typeface="Agency FB" pitchFamily="34" charset="0"/>
            </a:endParaRPr>
          </a:p>
        </p:txBody>
      </p:sp>
      <p:sp>
        <p:nvSpPr>
          <p:cNvPr id="3" name="Subtitle 2"/>
          <p:cNvSpPr>
            <a:spLocks noGrp="1"/>
          </p:cNvSpPr>
          <p:nvPr>
            <p:ph type="subTitle" idx="1"/>
          </p:nvPr>
        </p:nvSpPr>
        <p:spPr>
          <a:xfrm>
            <a:off x="1371600" y="5029200"/>
            <a:ext cx="6400800" cy="609600"/>
          </a:xfrm>
        </p:spPr>
        <p:txBody>
          <a:bodyPr/>
          <a:lstStyle/>
          <a:p>
            <a:r>
              <a:rPr lang="en-US" dirty="0" smtClean="0">
                <a:solidFill>
                  <a:srgbClr val="FFC000"/>
                </a:solidFill>
                <a:latin typeface="Arial" pitchFamily="34" charset="0"/>
                <a:cs typeface="Arial" pitchFamily="34" charset="0"/>
              </a:rPr>
              <a:t>Steve Jobs</a:t>
            </a:r>
            <a:endParaRPr lang="en-US" dirty="0">
              <a:solidFill>
                <a:srgbClr val="FFC000"/>
              </a:solidFill>
            </a:endParaRPr>
          </a:p>
        </p:txBody>
      </p:sp>
    </p:spTree>
  </p:cSld>
  <p:clrMapOvr>
    <a:masterClrMapping/>
  </p:clrMapOvr>
  <p:transition spd="med" advTm="19344">
    <p:newsflash/>
    <p:sndAc>
      <p:stSnd>
        <p:snd r:embed="rId2" name="voltage.wav" builtIn="1"/>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04801"/>
            <a:ext cx="7772400" cy="1066800"/>
          </a:xfrm>
        </p:spPr>
        <p:txBody>
          <a:bodyPr/>
          <a:lstStyle/>
          <a:p>
            <a:r>
              <a:rPr lang="en-US" dirty="0" smtClean="0">
                <a:solidFill>
                  <a:srgbClr val="FFC000"/>
                </a:solidFill>
              </a:rPr>
              <a:t>DAIS-10 Introduction</a:t>
            </a:r>
            <a:endParaRPr lang="en-US" dirty="0">
              <a:solidFill>
                <a:srgbClr val="FFC000"/>
              </a:solidFill>
            </a:endParaRPr>
          </a:p>
        </p:txBody>
      </p:sp>
      <p:sp>
        <p:nvSpPr>
          <p:cNvPr id="3" name="Subtitle 2"/>
          <p:cNvSpPr>
            <a:spLocks noGrp="1"/>
          </p:cNvSpPr>
          <p:nvPr>
            <p:ph type="subTitle" idx="1"/>
          </p:nvPr>
        </p:nvSpPr>
        <p:spPr>
          <a:xfrm>
            <a:off x="1371600" y="1371600"/>
            <a:ext cx="6400800" cy="4876800"/>
          </a:xfrm>
        </p:spPr>
        <p:txBody>
          <a:bodyPr>
            <a:normAutofit lnSpcReduction="10000"/>
          </a:bodyPr>
          <a:lstStyle/>
          <a:p>
            <a:pPr>
              <a:buFont typeface="Arial" pitchFamily="34" charset="0"/>
              <a:buChar char="•"/>
            </a:pPr>
            <a:r>
              <a:rPr lang="en-US" sz="2100" b="1" dirty="0">
                <a:solidFill>
                  <a:srgbClr val="FFC000"/>
                </a:solidFill>
                <a:latin typeface="Agency FB" pitchFamily="34" charset="0"/>
              </a:rPr>
              <a:t>DAIS‑10 (Data Attribute Importance Standard) is a </a:t>
            </a:r>
            <a:r>
              <a:rPr lang="en-US" sz="2100" b="1" dirty="0" smtClean="0">
                <a:solidFill>
                  <a:srgbClr val="FFC000"/>
                </a:solidFill>
                <a:latin typeface="Agency FB" pitchFamily="34" charset="0"/>
              </a:rPr>
              <a:t>meaning centric </a:t>
            </a:r>
            <a:r>
              <a:rPr lang="en-US" sz="2100" b="1" dirty="0">
                <a:solidFill>
                  <a:srgbClr val="FFC000"/>
                </a:solidFill>
                <a:latin typeface="Agency FB" pitchFamily="34" charset="0"/>
              </a:rPr>
              <a:t>framework that classifies data attributes by their qualitative importance across a continuous, fading spectrum</a:t>
            </a:r>
            <a:r>
              <a:rPr lang="en-US" sz="2100" b="1" dirty="0" smtClean="0">
                <a:solidFill>
                  <a:srgbClr val="FFC000"/>
                </a:solidFill>
                <a:latin typeface="Agency FB" pitchFamily="34" charset="0"/>
              </a:rPr>
              <a:t>.</a:t>
            </a:r>
          </a:p>
          <a:p>
            <a:pPr>
              <a:buFont typeface="Arial" pitchFamily="34" charset="0"/>
              <a:buChar char="•"/>
            </a:pPr>
            <a:endParaRPr lang="en-US" sz="2100" b="1" dirty="0">
              <a:solidFill>
                <a:srgbClr val="FFC000"/>
              </a:solidFill>
              <a:latin typeface="Agency FB" pitchFamily="34" charset="0"/>
            </a:endParaRPr>
          </a:p>
          <a:p>
            <a:pPr>
              <a:buFont typeface="Arial" pitchFamily="34" charset="0"/>
              <a:buChar char="•"/>
            </a:pPr>
            <a:r>
              <a:rPr lang="en-US" sz="2100" b="1" dirty="0" smtClean="0">
                <a:solidFill>
                  <a:srgbClr val="FFC000"/>
                </a:solidFill>
                <a:latin typeface="Agency FB" pitchFamily="34" charset="0"/>
              </a:rPr>
              <a:t>DAIS 10 is still a baby, means it is in its development Stages.</a:t>
            </a:r>
          </a:p>
          <a:p>
            <a:pPr>
              <a:buFont typeface="Arial" pitchFamily="34" charset="0"/>
              <a:buChar char="•"/>
            </a:pPr>
            <a:endParaRPr lang="en-US" sz="2100" b="1" dirty="0">
              <a:solidFill>
                <a:srgbClr val="FFC000"/>
              </a:solidFill>
              <a:latin typeface="Agency FB" pitchFamily="34" charset="0"/>
            </a:endParaRPr>
          </a:p>
          <a:p>
            <a:pPr>
              <a:buFont typeface="Arial" pitchFamily="34" charset="0"/>
              <a:buChar char="•"/>
            </a:pPr>
            <a:r>
              <a:rPr lang="en-US" sz="2100" b="1" dirty="0" smtClean="0">
                <a:solidFill>
                  <a:srgbClr val="FFC000"/>
                </a:solidFill>
                <a:latin typeface="Agency FB" pitchFamily="34" charset="0"/>
              </a:rPr>
              <a:t>It is based of 8 engines right now inspired by mathematical derivations of data realities.</a:t>
            </a:r>
          </a:p>
          <a:p>
            <a:pPr>
              <a:buFont typeface="Arial" pitchFamily="34" charset="0"/>
              <a:buChar char="•"/>
            </a:pPr>
            <a:endParaRPr lang="en-US" sz="2100" b="1" dirty="0">
              <a:solidFill>
                <a:srgbClr val="FFC000"/>
              </a:solidFill>
              <a:latin typeface="Agency FB" pitchFamily="34" charset="0"/>
            </a:endParaRPr>
          </a:p>
          <a:p>
            <a:pPr>
              <a:buFont typeface="Arial" pitchFamily="34" charset="0"/>
              <a:buChar char="•"/>
            </a:pPr>
            <a:r>
              <a:rPr lang="en-US" sz="2100" b="1" dirty="0" smtClean="0">
                <a:solidFill>
                  <a:srgbClr val="FFC000"/>
                </a:solidFill>
                <a:latin typeface="Agency FB" pitchFamily="34" charset="0"/>
              </a:rPr>
              <a:t>Future of DAIS-10 is  Universal with unlimited potential of adoptability and customization</a:t>
            </a:r>
          </a:p>
          <a:p>
            <a:endParaRPr lang="en-US" sz="2100" b="1" dirty="0" smtClean="0">
              <a:solidFill>
                <a:srgbClr val="FFC000"/>
              </a:solidFill>
              <a:latin typeface="Agency FB" pitchFamily="34" charset="0"/>
            </a:endParaRPr>
          </a:p>
          <a:p>
            <a:r>
              <a:rPr lang="en-US" sz="2100" b="1" dirty="0" smtClean="0">
                <a:solidFill>
                  <a:srgbClr val="FFC000"/>
                </a:solidFill>
                <a:latin typeface="Agency FB" pitchFamily="34" charset="0"/>
              </a:rPr>
              <a:t>Humble Efforts by Usman Zafar with his AI Companions </a:t>
            </a:r>
          </a:p>
          <a:p>
            <a:r>
              <a:rPr lang="en-US" sz="1600" b="1" dirty="0" smtClean="0">
                <a:solidFill>
                  <a:srgbClr val="FFC000"/>
                </a:solidFill>
                <a:latin typeface="Agency FB" pitchFamily="34" charset="0"/>
              </a:rPr>
              <a:t>(Theoretical Support Co-Pilot &amp; Development Support Claude</a:t>
            </a:r>
            <a:r>
              <a:rPr lang="en-US" sz="1600" b="1" dirty="0" smtClean="0">
                <a:solidFill>
                  <a:srgbClr val="FFC000"/>
                </a:solidFill>
              </a:rPr>
              <a:t>)</a:t>
            </a:r>
            <a:endParaRPr lang="en-US" sz="1600" b="1" dirty="0">
              <a:solidFill>
                <a:srgbClr val="FFC000"/>
              </a:solidFill>
            </a:endParaRPr>
          </a:p>
        </p:txBody>
      </p:sp>
    </p:spTree>
  </p:cSld>
  <p:clrMapOvr>
    <a:masterClrMapping/>
  </p:clrMapOvr>
  <p:transition spd="med" advTm="19828">
    <p:zoom/>
    <p:sndAc>
      <p:stSnd>
        <p:snd r:embed="rId2" name="voltage.wav" builtIn="1"/>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Display Window</a:t>
            </a:r>
            <a:endParaRPr lang="en-US" dirty="0"/>
          </a:p>
        </p:txBody>
      </p:sp>
      <p:pic>
        <p:nvPicPr>
          <p:cNvPr id="10" name="Picture Placeholder 9" descr="v1.1.8.jpg"/>
          <p:cNvPicPr>
            <a:picLocks noGrp="1" noChangeAspect="1"/>
          </p:cNvPicPr>
          <p:nvPr>
            <p:ph type="pic" idx="1"/>
          </p:nvPr>
        </p:nvPicPr>
        <p:blipFill>
          <a:blip r:embed="rId3"/>
          <a:srcRect l="1235" r="291"/>
          <a:stretch>
            <a:fillRect/>
          </a:stretch>
        </p:blipFill>
        <p:spPr>
          <a:xfrm>
            <a:off x="838200" y="457200"/>
            <a:ext cx="7620000" cy="411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p:txBody>
          <a:bodyPr/>
          <a:lstStyle/>
          <a:p>
            <a:r>
              <a:rPr lang="en-US" dirty="0" smtClean="0"/>
              <a:t>Version 1.1.8</a:t>
            </a:r>
          </a:p>
          <a:p>
            <a:r>
              <a:rPr lang="en-US" dirty="0" smtClean="0"/>
              <a:t>Executive Controlled Semantic Data Governance</a:t>
            </a:r>
            <a:endParaRPr lang="en-US" dirty="0"/>
          </a:p>
        </p:txBody>
      </p:sp>
    </p:spTree>
  </p:cSld>
  <p:clrMapOvr>
    <a:masterClrMapping/>
  </p:clrMapOvr>
  <p:transition spd="med" advTm="10031">
    <p:dissolve/>
    <p:sndAc>
      <p:stSnd>
        <p:snd r:embed="rId2" name="voltage.wav" builtIn="1"/>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Schema Editor</a:t>
            </a:r>
            <a:endParaRPr lang="en-US" dirty="0"/>
          </a:p>
        </p:txBody>
      </p:sp>
      <p:pic>
        <p:nvPicPr>
          <p:cNvPr id="5" name="Picture Placeholder 4" descr="UI_schema_definition.jpg"/>
          <p:cNvPicPr>
            <a:picLocks noGrp="1" noChangeAspect="1"/>
          </p:cNvPicPr>
          <p:nvPr>
            <p:ph type="pic" idx="1"/>
          </p:nvPr>
        </p:nvPicPr>
        <p:blipFill>
          <a:blip r:embed="rId3"/>
          <a:srcRect l="639" r="679"/>
          <a:stretch>
            <a:fillRect/>
          </a:stretch>
        </p:blipFill>
        <p:spPr>
          <a:xfrm>
            <a:off x="609600" y="609600"/>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lstStyle/>
          <a:p>
            <a:r>
              <a:rPr lang="en-US" dirty="0" smtClean="0"/>
              <a:t>For Legal and Governance purpose, Data executive can customize their data by assigning values to their schema. In simplest form this is core reason of DAIS10</a:t>
            </a:r>
            <a:endParaRPr lang="en-US" dirty="0"/>
          </a:p>
        </p:txBody>
      </p:sp>
    </p:spTree>
  </p:cSld>
  <p:clrMapOvr>
    <a:masterClrMapping/>
  </p:clrMapOvr>
  <p:transition spd="med" advTm="9922">
    <p:dissolve/>
    <p:sndAc>
      <p:stSnd>
        <p:snd r:embed="rId2" name="voltage.wav" builtIn="1"/>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Explaining Domain</a:t>
            </a:r>
            <a:endParaRPr lang="en-US" dirty="0"/>
          </a:p>
        </p:txBody>
      </p:sp>
      <p:pic>
        <p:nvPicPr>
          <p:cNvPr id="5" name="Picture Placeholder 4" descr="Industry_choices.jpg"/>
          <p:cNvPicPr>
            <a:picLocks noGrp="1" noChangeAspect="1"/>
          </p:cNvPicPr>
          <p:nvPr>
            <p:ph type="pic" idx="1"/>
          </p:nvPr>
        </p:nvPicPr>
        <p:blipFill>
          <a:blip r:embed="rId3"/>
          <a:srcRect l="249" r="291"/>
          <a:stretch>
            <a:fillRect/>
          </a:stretch>
        </p:blipFill>
        <p:spPr>
          <a:xfrm>
            <a:off x="685800" y="612775"/>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lstStyle/>
          <a:p>
            <a:r>
              <a:rPr lang="en-US" dirty="0" smtClean="0"/>
              <a:t>The industries those are included in DAIS 10 are Healthcare, Finance, Retail, E-commerce, Manufacturing, Analytics and Machine-Learning</a:t>
            </a:r>
            <a:endParaRPr lang="en-US" dirty="0"/>
          </a:p>
        </p:txBody>
      </p:sp>
    </p:spTree>
  </p:cSld>
  <p:clrMapOvr>
    <a:masterClrMapping/>
  </p:clrMapOvr>
  <p:transition spd="med" advTm="9984">
    <p:dissolve/>
    <p:sndAc>
      <p:stSnd>
        <p:snd r:embed="rId2" name="voltage.wav" builtIn="1"/>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Completion Message</a:t>
            </a:r>
            <a:endParaRPr lang="en-US" dirty="0"/>
          </a:p>
        </p:txBody>
      </p:sp>
      <p:pic>
        <p:nvPicPr>
          <p:cNvPr id="5" name="Picture Placeholder 4" descr="hybrid_schema_definition.jpg"/>
          <p:cNvPicPr>
            <a:picLocks noGrp="1" noChangeAspect="1"/>
          </p:cNvPicPr>
          <p:nvPr>
            <p:ph type="pic" idx="1"/>
          </p:nvPr>
        </p:nvPicPr>
        <p:blipFill>
          <a:blip r:embed="rId3"/>
          <a:srcRect l="443" r="484"/>
          <a:stretch>
            <a:fillRect/>
          </a:stretch>
        </p:blipFill>
        <p:spPr>
          <a:xfrm>
            <a:off x="685800" y="612775"/>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lstStyle/>
          <a:p>
            <a:r>
              <a:rPr lang="en-US" dirty="0" smtClean="0"/>
              <a:t>Analysis complete window and Summary Statistics</a:t>
            </a:r>
          </a:p>
          <a:p>
            <a:r>
              <a:rPr lang="en-US" dirty="0" smtClean="0"/>
              <a:t>Results when Schema was not customized</a:t>
            </a:r>
            <a:endParaRPr lang="en-US" dirty="0"/>
          </a:p>
        </p:txBody>
      </p:sp>
    </p:spTree>
  </p:cSld>
  <p:clrMapOvr>
    <a:masterClrMapping/>
  </p:clrMapOvr>
  <p:transition spd="med" advTm="10063">
    <p:dissolve/>
    <p:sndAc>
      <p:stSnd>
        <p:snd r:embed="rId2" name="voltage.wav" builtIn="1"/>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Report Example = Summary &amp; Attributes</a:t>
            </a:r>
            <a:endParaRPr lang="en-US" dirty="0"/>
          </a:p>
        </p:txBody>
      </p:sp>
      <p:pic>
        <p:nvPicPr>
          <p:cNvPr id="5" name="Picture Placeholder 4" descr="summary_Results.jpg"/>
          <p:cNvPicPr>
            <a:picLocks noGrp="1" noChangeAspect="1"/>
          </p:cNvPicPr>
          <p:nvPr>
            <p:ph type="pic" idx="1"/>
          </p:nvPr>
        </p:nvPicPr>
        <p:blipFill>
          <a:blip r:embed="rId3"/>
          <a:srcRect l="443" r="484"/>
          <a:stretch>
            <a:fillRect/>
          </a:stretch>
        </p:blipFill>
        <p:spPr>
          <a:xfrm>
            <a:off x="685800" y="612775"/>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normAutofit lnSpcReduction="10000"/>
          </a:bodyPr>
          <a:lstStyle/>
          <a:p>
            <a:r>
              <a:rPr lang="en-US" dirty="0" smtClean="0"/>
              <a:t>Report on Data derived from Parquet file format</a:t>
            </a:r>
          </a:p>
          <a:p>
            <a:r>
              <a:rPr lang="en-US" dirty="0" smtClean="0"/>
              <a:t>Hybrid Mode used for Edit Schema</a:t>
            </a:r>
          </a:p>
          <a:p>
            <a:r>
              <a:rPr lang="en-US" dirty="0" smtClean="0"/>
              <a:t>Industry Type = Healthcare</a:t>
            </a:r>
            <a:endParaRPr lang="en-US" dirty="0"/>
          </a:p>
        </p:txBody>
      </p:sp>
    </p:spTree>
  </p:cSld>
  <p:clrMapOvr>
    <a:masterClrMapping/>
  </p:clrMapOvr>
  <p:transition spd="med" advTm="10000">
    <p:dissolve/>
    <p:sndAc>
      <p:stSnd>
        <p:snd r:embed="rId2" name="voltage.wav" builtIn="1"/>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Format 2</a:t>
            </a:r>
            <a:endParaRPr lang="en-US" dirty="0"/>
          </a:p>
        </p:txBody>
      </p:sp>
      <p:pic>
        <p:nvPicPr>
          <p:cNvPr id="5" name="Picture Placeholder 4" descr="row_comparison_results.jpg"/>
          <p:cNvPicPr>
            <a:picLocks noGrp="1" noChangeAspect="1"/>
          </p:cNvPicPr>
          <p:nvPr>
            <p:ph type="pic" idx="1"/>
          </p:nvPr>
        </p:nvPicPr>
        <p:blipFill>
          <a:blip r:embed="rId3"/>
          <a:srcRect l="6" r="46"/>
          <a:stretch>
            <a:fillRect/>
          </a:stretch>
        </p:blipFill>
        <p:spPr>
          <a:xfrm>
            <a:off x="685800" y="612775"/>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lstStyle/>
          <a:p>
            <a:r>
              <a:rPr lang="en-US" dirty="0" smtClean="0"/>
              <a:t>Comparison of Best 10 and Worst 10 Rows</a:t>
            </a:r>
            <a:endParaRPr lang="en-US" dirty="0"/>
          </a:p>
        </p:txBody>
      </p:sp>
    </p:spTree>
  </p:cSld>
  <p:clrMapOvr>
    <a:masterClrMapping/>
  </p:clrMapOvr>
  <p:transition spd="med" advTm="10046">
    <p:dissolve/>
    <p:sndAc>
      <p:stSnd>
        <p:snd r:embed="rId2" name="voltage.wav" builtIn="1"/>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 Explanation</a:t>
            </a:r>
            <a:endParaRPr lang="en-US" dirty="0"/>
          </a:p>
        </p:txBody>
      </p:sp>
      <p:pic>
        <p:nvPicPr>
          <p:cNvPr id="5" name="Picture Placeholder 4" descr="result_explain.jpg"/>
          <p:cNvPicPr>
            <a:picLocks noGrp="1" noChangeAspect="1"/>
          </p:cNvPicPr>
          <p:nvPr>
            <p:ph type="pic" idx="1"/>
          </p:nvPr>
        </p:nvPicPr>
        <p:blipFill>
          <a:blip r:embed="rId3"/>
          <a:srcRect l="743" r="248"/>
          <a:stretch>
            <a:fillRect/>
          </a:stretch>
        </p:blipFill>
        <p:spPr>
          <a:xfrm>
            <a:off x="762000" y="612775"/>
            <a:ext cx="7315200" cy="4114800"/>
          </a:xfrm>
        </p:spPr>
      </p:pic>
      <p:sp>
        <p:nvSpPr>
          <p:cNvPr id="4" name="Text Placeholder 3"/>
          <p:cNvSpPr>
            <a:spLocks noGrp="1"/>
          </p:cNvSpPr>
          <p:nvPr>
            <p:ph type="body" sz="half" idx="2"/>
          </p:nvPr>
        </p:nvSpPr>
        <p:spPr/>
        <p:txBody>
          <a:bodyPr>
            <a:normAutofit fontScale="85000" lnSpcReduction="20000"/>
          </a:bodyPr>
          <a:lstStyle/>
          <a:p>
            <a:r>
              <a:rPr lang="en-US" dirty="0" smtClean="0"/>
              <a:t>Features wise results: </a:t>
            </a:r>
          </a:p>
          <a:p>
            <a:r>
              <a:rPr lang="en-US" dirty="0" smtClean="0"/>
              <a:t>Impact</a:t>
            </a:r>
          </a:p>
          <a:p>
            <a:r>
              <a:rPr lang="en-US" dirty="0" smtClean="0"/>
              <a:t>Score </a:t>
            </a:r>
          </a:p>
          <a:p>
            <a:r>
              <a:rPr lang="en-US" dirty="0" smtClean="0"/>
              <a:t>Reason of Scoring</a:t>
            </a:r>
            <a:endParaRPr lang="en-US" dirty="0"/>
          </a:p>
        </p:txBody>
      </p:sp>
    </p:spTree>
  </p:cSld>
  <p:clrMapOvr>
    <a:masterClrMapping/>
  </p:clrMapOvr>
  <p:transition spd="med" advTm="10265">
    <p:dissolve/>
    <p:sndAc>
      <p:stSnd>
        <p:snd r:embed="rId2" name="voltage.wav" builtIn="1"/>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4 = Data Legal Requirement</a:t>
            </a:r>
            <a:endParaRPr lang="en-US" dirty="0"/>
          </a:p>
        </p:txBody>
      </p:sp>
      <p:pic>
        <p:nvPicPr>
          <p:cNvPr id="5" name="Picture Placeholder 4" descr="legal_requirement.jpg"/>
          <p:cNvPicPr>
            <a:picLocks noGrp="1" noChangeAspect="1"/>
          </p:cNvPicPr>
          <p:nvPr>
            <p:ph type="pic" idx="1"/>
          </p:nvPr>
        </p:nvPicPr>
        <p:blipFill>
          <a:blip r:embed="rId3"/>
          <a:srcRect l="862" t="-77" r="388"/>
          <a:stretch>
            <a:fillRect/>
          </a:stretch>
        </p:blipFill>
        <p:spPr>
          <a:xfrm>
            <a:off x="762000" y="609600"/>
            <a:ext cx="7620000" cy="4117975"/>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normAutofit/>
          </a:bodyPr>
          <a:lstStyle/>
          <a:p>
            <a:r>
              <a:rPr lang="en-US" dirty="0" smtClean="0"/>
              <a:t>The legal frameworks added are HIPAA, SOX &amp; GDPR</a:t>
            </a:r>
          </a:p>
          <a:p>
            <a:r>
              <a:rPr lang="en-US" dirty="0" smtClean="0"/>
              <a:t>DAIS10 has unlimited options to customize it to any country or any industrial requirements. </a:t>
            </a:r>
            <a:endParaRPr lang="en-US" dirty="0"/>
          </a:p>
        </p:txBody>
      </p:sp>
    </p:spTree>
  </p:cSld>
  <p:clrMapOvr>
    <a:masterClrMapping/>
  </p:clrMapOvr>
  <p:transition spd="med" advTm="10031">
    <p:dissolve/>
    <p:sndAc>
      <p:stSnd>
        <p:snd r:embed="rId2" name="voltage.wav" builtIn="1"/>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 Schema Option </a:t>
            </a:r>
            <a:endParaRPr lang="en-US" dirty="0"/>
          </a:p>
        </p:txBody>
      </p:sp>
      <p:pic>
        <p:nvPicPr>
          <p:cNvPr id="5" name="Picture Placeholder 4" descr="export_schema.jpg"/>
          <p:cNvPicPr>
            <a:picLocks noGrp="1" noChangeAspect="1"/>
          </p:cNvPicPr>
          <p:nvPr>
            <p:ph type="pic" idx="1"/>
          </p:nvPr>
        </p:nvPicPr>
        <p:blipFill>
          <a:blip r:embed="rId3"/>
          <a:srcRect l="-538" r="-497"/>
          <a:stretch>
            <a:fillRect/>
          </a:stretch>
        </p:blipFill>
        <p:spPr>
          <a:xfrm>
            <a:off x="609600" y="612775"/>
            <a:ext cx="78486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normAutofit lnSpcReduction="10000"/>
          </a:bodyPr>
          <a:lstStyle/>
          <a:p>
            <a:r>
              <a:rPr lang="en-US" dirty="0" smtClean="0"/>
              <a:t>For Audit purpose</a:t>
            </a:r>
          </a:p>
          <a:p>
            <a:r>
              <a:rPr lang="en-US" dirty="0" smtClean="0"/>
              <a:t>For Governance purpose</a:t>
            </a:r>
          </a:p>
          <a:p>
            <a:r>
              <a:rPr lang="en-US" dirty="0" smtClean="0"/>
              <a:t>For Internal Records</a:t>
            </a:r>
            <a:endParaRPr lang="en-US" dirty="0"/>
          </a:p>
        </p:txBody>
      </p:sp>
    </p:spTree>
  </p:cSld>
  <p:clrMapOvr>
    <a:masterClrMapping/>
  </p:clrMapOvr>
  <p:transition spd="med" advTm="9906">
    <p:dissolve/>
    <p:sndAc>
      <p:stSnd>
        <p:snd r:embed="rId2" name="voltage.wav" builtIn="1"/>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Export Result Report = DAIS10 Analysis &amp; Report</a:t>
            </a:r>
            <a:endParaRPr lang="en-US" dirty="0"/>
          </a:p>
        </p:txBody>
      </p:sp>
      <p:pic>
        <p:nvPicPr>
          <p:cNvPr id="5" name="Picture Placeholder 4" descr="export_results.jpg"/>
          <p:cNvPicPr>
            <a:picLocks noGrp="1" noChangeAspect="1"/>
          </p:cNvPicPr>
          <p:nvPr>
            <p:ph type="pic" idx="1"/>
          </p:nvPr>
        </p:nvPicPr>
        <p:blipFill>
          <a:blip r:embed="rId3"/>
          <a:srcRect l="250" r="291"/>
          <a:stretch>
            <a:fillRect/>
          </a:stretch>
        </p:blipFill>
        <p:spPr>
          <a:xfrm>
            <a:off x="685800" y="612775"/>
            <a:ext cx="7696200" cy="4114800"/>
          </a:xfrm>
          <a:prstGeom prst="rect">
            <a:avLst/>
          </a:prstGeom>
          <a:ln w="88900" cap="sq" cmpd="thickThin">
            <a:solidFill>
              <a:srgbClr val="000000"/>
            </a:solidFill>
            <a:prstDash val="solid"/>
            <a:miter lim="800000"/>
          </a:ln>
          <a:effectLst>
            <a:innerShdw blurRad="76200">
              <a:srgbClr val="000000"/>
            </a:innerShdw>
          </a:effectLst>
        </p:spPr>
      </p:pic>
      <p:sp>
        <p:nvSpPr>
          <p:cNvPr id="4" name="Text Placeholder 3"/>
          <p:cNvSpPr>
            <a:spLocks noGrp="1"/>
          </p:cNvSpPr>
          <p:nvPr>
            <p:ph type="body" sz="half" idx="2"/>
          </p:nvPr>
        </p:nvSpPr>
        <p:spPr/>
        <p:txBody>
          <a:bodyPr>
            <a:normAutofit lnSpcReduction="10000"/>
          </a:bodyPr>
          <a:lstStyle/>
          <a:p>
            <a:r>
              <a:rPr lang="en-US" dirty="0" smtClean="0"/>
              <a:t>For: Internal Record</a:t>
            </a:r>
          </a:p>
          <a:p>
            <a:r>
              <a:rPr lang="en-US" dirty="0" smtClean="0"/>
              <a:t>Audit</a:t>
            </a:r>
          </a:p>
          <a:p>
            <a:r>
              <a:rPr lang="en-US" dirty="0" smtClean="0"/>
              <a:t>Governance</a:t>
            </a:r>
            <a:endParaRPr lang="en-US" dirty="0"/>
          </a:p>
        </p:txBody>
      </p:sp>
    </p:spTree>
  </p:cSld>
  <p:clrMapOvr>
    <a:masterClrMapping/>
  </p:clrMapOvr>
  <p:transition spd="med" advTm="10219">
    <p:dissolve/>
    <p:sndAc>
      <p:stSnd>
        <p:snd r:embed="rId2" name="voltage.wav" builtIn="1"/>
      </p:stSnd>
    </p:sndAc>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TotalTime>
  <Words>395</Words>
  <Application>Microsoft Office PowerPoint</Application>
  <PresentationFormat>On-screen Show (4:3)</PresentationFormat>
  <Paragraphs>52</Paragraphs>
  <Slides>13</Slides>
  <Notes>0</Notes>
  <HiddenSlides>0</HiddenSlides>
  <MMClips>2</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DAIS-10  By Usman Zafar Ph.D</vt:lpstr>
      <vt:lpstr>“Any new idea is nothing more than a new combination of old elements. The ability to make those new combinations depends on our ability to see relationships and connecting dots. Some are able to do this because they’ve had more experiences, or thought more about those experiences, than other people. They are better at connecting the dots because they have more dots to connect. Most people may know a lot, but only about a very narrow field. So they don’t have enough dots to connect, and they end up with predictable, linear solutions.” </vt:lpstr>
      <vt:lpstr>DAIS-10 Introduction</vt:lpstr>
      <vt:lpstr>Main Display Window</vt:lpstr>
      <vt:lpstr>Executive Schema Editor</vt:lpstr>
      <vt:lpstr>Explaining Domain</vt:lpstr>
      <vt:lpstr>Analysis Completion Message</vt:lpstr>
      <vt:lpstr>Report Example = Summary &amp; Attributes</vt:lpstr>
      <vt:lpstr>Report Format 2</vt:lpstr>
      <vt:lpstr>Result Explanation</vt:lpstr>
      <vt:lpstr>Report 4 = Data Legal Requirement</vt:lpstr>
      <vt:lpstr>Export Schema Option </vt:lpstr>
      <vt:lpstr>Export Result Report = DAIS10 Analysis &amp; Report</vt:lpstr>
    </vt:vector>
  </TitlesOfParts>
  <Company>Deftones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Presenting: DAIS-10  By Usman Zafar Ph.D</dc:title>
  <dc:creator>T470</dc:creator>
  <cp:lastModifiedBy>T470</cp:lastModifiedBy>
  <cp:revision>4</cp:revision>
  <dcterms:created xsi:type="dcterms:W3CDTF">2026-02-27T08:58:31Z</dcterms:created>
  <dcterms:modified xsi:type="dcterms:W3CDTF">2026-02-27T11:17:38Z</dcterms:modified>
</cp:coreProperties>
</file>