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92" r:id="rId2"/>
    <p:sldId id="289" r:id="rId3"/>
    <p:sldId id="290" r:id="rId4"/>
    <p:sldId id="291" r:id="rId5"/>
    <p:sldId id="275" r:id="rId6"/>
    <p:sldId id="276" r:id="rId7"/>
    <p:sldId id="277" r:id="rId8"/>
    <p:sldId id="278" r:id="rId9"/>
    <p:sldId id="279" r:id="rId10"/>
    <p:sldId id="281" r:id="rId11"/>
    <p:sldId id="280" r:id="rId12"/>
    <p:sldId id="282" r:id="rId13"/>
    <p:sldId id="283" r:id="rId14"/>
    <p:sldId id="284" r:id="rId15"/>
    <p:sldId id="285" r:id="rId16"/>
    <p:sldId id="286" r:id="rId17"/>
    <p:sldId id="287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70B3BB-98B6-48F5-AFC3-DC876C2E705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E792B4-C232-410C-B510-A7BE1B7266A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C587-CB2C-468A-8E30-E3A29F0E1D50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Usman Zafar PhD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DDD5-03C8-41AD-B639-8CE54E221FA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F6DB3-CCD6-4658-82FC-F6600213622C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Usman Zafar PhD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DDD5-03C8-41AD-B639-8CE54E221FA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E1D44-01AD-412C-9B93-748BEC2A4E1E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Usman Zafar PhD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DDD5-03C8-41AD-B639-8CE54E221FA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B584-8FEA-40C0-82D1-899554267420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Usman Zafar PhD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DDD5-03C8-41AD-B639-8CE54E221FA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4B205-D3AC-47B3-9FB6-EBDE2895092D}" type="datetime1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Usman Zafar PhD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DDD5-03C8-41AD-B639-8CE54E221FA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84A1B-9619-4E68-9396-8B57D3185034}" type="datetime1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Usman Zafar PhD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DDD5-03C8-41AD-B639-8CE54E221FA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C68FC-D84B-4480-8261-D414F3617597}" type="datetime1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Usman Zafar PhD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DDD5-03C8-41AD-B639-8CE54E221FA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3DEF6-1007-4673-B92E-1359CFDA1DF4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Usman Zafar PhD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DDD5-03C8-41AD-B639-8CE54E221FA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7B63F-CF87-4424-BC0B-321D808AD66E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Usman Zafar PhD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DDD5-03C8-41AD-B639-8CE54E221FA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875FE-C0B3-460B-96C7-F5838CB240BD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Usman Zafar PhD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DDD5-03C8-41AD-B639-8CE54E221FA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3161E-485D-4EE4-8037-57BEBB1E9DF4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Usman Zafar PhD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DDD5-03C8-41AD-B639-8CE54E221FA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F091D-DDC2-4B1B-A803-2B8D793298AF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by Usman Zafar PhD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4DDD5-03C8-41AD-B639-8CE54E221FAD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C000"/>
                </a:solidFill>
              </a:rPr>
              <a:t>SIL10: APPLICATION</a:t>
            </a:r>
            <a:br>
              <a:rPr lang="en-US" b="1" dirty="0" smtClean="0">
                <a:solidFill>
                  <a:srgbClr val="FFC000"/>
                </a:solidFill>
              </a:rPr>
            </a:br>
            <a:r>
              <a:rPr lang="en-US" b="1" dirty="0" smtClean="0">
                <a:solidFill>
                  <a:srgbClr val="FFC000"/>
                </a:solidFill>
              </a:rPr>
              <a:t>Details available at</a:t>
            </a:r>
            <a:r>
              <a:rPr lang="en-US" b="1" dirty="0" smtClean="0">
                <a:solidFill>
                  <a:srgbClr val="FFC000"/>
                </a:solidFill>
              </a:rPr>
              <a:t> zulfr.com</a:t>
            </a:r>
            <a:r>
              <a:rPr lang="en-US" b="1" dirty="0" smtClean="0">
                <a:solidFill>
                  <a:srgbClr val="FFC000"/>
                </a:solidFill>
              </a:rPr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133600"/>
            <a:ext cx="6400800" cy="4038600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en-US" dirty="0" smtClean="0">
                <a:solidFill>
                  <a:srgbClr val="FFC000"/>
                </a:solidFill>
              </a:rPr>
              <a:t>Issue: </a:t>
            </a:r>
          </a:p>
          <a:p>
            <a:pPr algn="just"/>
            <a:r>
              <a:rPr lang="en-US" dirty="0" smtClean="0">
                <a:solidFill>
                  <a:srgbClr val="FFC000"/>
                </a:solidFill>
              </a:rPr>
              <a:t>Reliability </a:t>
            </a:r>
            <a:r>
              <a:rPr lang="en-US" dirty="0">
                <a:solidFill>
                  <a:srgbClr val="FFC000"/>
                </a:solidFill>
              </a:rPr>
              <a:t>models for Safety Instrumented Systems (SIS) historically rely on stationary </a:t>
            </a:r>
            <a:r>
              <a:rPr lang="en-US" dirty="0" smtClean="0">
                <a:solidFill>
                  <a:srgbClr val="FFC000"/>
                </a:solidFill>
              </a:rPr>
              <a:t>parameters.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smtClean="0">
                <a:solidFill>
                  <a:srgbClr val="FFC000"/>
                </a:solidFill>
              </a:rPr>
              <a:t>Constant </a:t>
            </a:r>
            <a:r>
              <a:rPr lang="en-US" dirty="0">
                <a:solidFill>
                  <a:srgbClr val="FFC000"/>
                </a:solidFill>
              </a:rPr>
              <a:t>failure rates, fixed diagnostic coverage, and invariant common-cause factors establish </a:t>
            </a:r>
            <a:r>
              <a:rPr lang="en-US" dirty="0" smtClean="0">
                <a:solidFill>
                  <a:srgbClr val="FFC000"/>
                </a:solidFill>
              </a:rPr>
              <a:t>a baseline for </a:t>
            </a:r>
            <a:r>
              <a:rPr lang="en-US" dirty="0">
                <a:solidFill>
                  <a:srgbClr val="FFC000"/>
                </a:solidFill>
              </a:rPr>
              <a:t>safety integrity. These models provide a necessary foundation for initial design. They represent </a:t>
            </a:r>
            <a:r>
              <a:rPr lang="en-US" dirty="0" smtClean="0">
                <a:solidFill>
                  <a:srgbClr val="FFC000"/>
                </a:solidFill>
              </a:rPr>
              <a:t>a snapshot </a:t>
            </a:r>
            <a:r>
              <a:rPr lang="en-US" dirty="0">
                <a:solidFill>
                  <a:srgbClr val="FFC000"/>
                </a:solidFill>
              </a:rPr>
              <a:t>in time. </a:t>
            </a:r>
            <a:endParaRPr lang="en-US" dirty="0" smtClean="0">
              <a:solidFill>
                <a:srgbClr val="FFC000"/>
              </a:solidFill>
            </a:endParaRPr>
          </a:p>
          <a:p>
            <a:pPr algn="just"/>
            <a:endParaRPr lang="en-US" dirty="0" smtClean="0">
              <a:solidFill>
                <a:srgbClr val="FFC000"/>
              </a:solidFill>
            </a:endParaRPr>
          </a:p>
          <a:p>
            <a:pPr algn="just"/>
            <a:endParaRPr lang="en-US" dirty="0" smtClean="0">
              <a:solidFill>
                <a:srgbClr val="FFC000"/>
              </a:solidFill>
            </a:endParaRPr>
          </a:p>
          <a:p>
            <a:pPr algn="just"/>
            <a:r>
              <a:rPr lang="en-US" dirty="0" smtClean="0">
                <a:solidFill>
                  <a:srgbClr val="FFC000"/>
                </a:solidFill>
              </a:rPr>
              <a:t>Solution:</a:t>
            </a:r>
            <a:endParaRPr lang="en-US" dirty="0">
              <a:solidFill>
                <a:srgbClr val="FFC000"/>
              </a:solidFill>
            </a:endParaRPr>
          </a:p>
          <a:p>
            <a:pPr algn="just"/>
            <a:r>
              <a:rPr lang="en-US" dirty="0" smtClean="0">
                <a:solidFill>
                  <a:srgbClr val="FFC000"/>
                </a:solidFill>
              </a:rPr>
              <a:t>In </a:t>
            </a:r>
            <a:r>
              <a:rPr lang="en-US" dirty="0">
                <a:solidFill>
                  <a:srgbClr val="FFC000"/>
                </a:solidFill>
              </a:rPr>
              <a:t>the physical reality of industrial operation, safety integrity is not a static </a:t>
            </a:r>
            <a:r>
              <a:rPr lang="en-US" dirty="0" smtClean="0">
                <a:solidFill>
                  <a:srgbClr val="FFC000"/>
                </a:solidFill>
              </a:rPr>
              <a:t>attribute. It </a:t>
            </a:r>
            <a:r>
              <a:rPr lang="en-US" dirty="0">
                <a:solidFill>
                  <a:srgbClr val="FFC000"/>
                </a:solidFill>
              </a:rPr>
              <a:t>is a dynamic state. It is continuously reshaped by the cumulative effects of </a:t>
            </a:r>
            <a:r>
              <a:rPr lang="en-US" dirty="0" smtClean="0">
                <a:solidFill>
                  <a:srgbClr val="FFC000"/>
                </a:solidFill>
              </a:rPr>
              <a:t>operational demand, environmental </a:t>
            </a:r>
            <a:r>
              <a:rPr lang="en-US" dirty="0">
                <a:solidFill>
                  <a:srgbClr val="FFC000"/>
                </a:solidFill>
              </a:rPr>
              <a:t>stressors, </a:t>
            </a:r>
            <a:r>
              <a:rPr lang="en-US" dirty="0" smtClean="0">
                <a:solidFill>
                  <a:srgbClr val="FFC000"/>
                </a:solidFill>
              </a:rPr>
              <a:t>and specialized </a:t>
            </a:r>
            <a:r>
              <a:rPr lang="en-US" dirty="0">
                <a:solidFill>
                  <a:srgbClr val="FFC000"/>
                </a:solidFill>
              </a:rPr>
              <a:t>maintenance intervals</a:t>
            </a:r>
            <a:r>
              <a:rPr lang="en-US" dirty="0" smtClean="0">
                <a:solidFill>
                  <a:srgbClr val="FFC000"/>
                </a:solidFill>
              </a:rPr>
              <a:t>. This </a:t>
            </a:r>
            <a:r>
              <a:rPr lang="en-US" dirty="0">
                <a:solidFill>
                  <a:srgbClr val="FFC000"/>
                </a:solidFill>
              </a:rPr>
              <a:t>framework introduces a theory </a:t>
            </a:r>
            <a:r>
              <a:rPr lang="en-US" dirty="0" smtClean="0">
                <a:solidFill>
                  <a:srgbClr val="FFC000"/>
                </a:solidFill>
              </a:rPr>
              <a:t>of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smtClean="0">
                <a:solidFill>
                  <a:srgbClr val="FFC000"/>
                </a:solidFill>
              </a:rPr>
              <a:t>Temporal </a:t>
            </a:r>
            <a:r>
              <a:rPr lang="en-US" dirty="0">
                <a:solidFill>
                  <a:srgbClr val="FFC000"/>
                </a:solidFill>
              </a:rPr>
              <a:t>Safety Integrity. At its core is the concept of Mosaic Aging.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by Usman Zafar PhD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Market Comparison Matrix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Competitors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SIL10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Update Frequency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Annual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Real-time (30 sec)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SIL Vision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Static "SIL 2"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Dynamic SIL(t) trajectory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Degradation Visibility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 factors shown separately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Common-Cause Tracking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Assumed </a:t>
                      </a:r>
                      <a:r>
                        <a:rPr lang="el-GR"/>
                        <a:t>β=0.10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Dynamic </a:t>
                      </a:r>
                      <a:r>
                        <a:rPr lang="el-GR"/>
                        <a:t>β(</a:t>
                      </a:r>
                      <a:r>
                        <a:rPr lang="en-US"/>
                        <a:t>t) evolution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Diagnostic Coverage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Drifting DC(t) tracked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Forecasting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36-month prediction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Uncertainty Quantification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100-scenario Monte Carlo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Action Recommendations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Ranked by ROI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Usman Zafar PhD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Market Comparison Matrix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31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Competitors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SIL10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Audit Trail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Paper-based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Immutable SHA-256 hash chain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Compliance Proof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Annual audit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24/7 continuous monitoring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IEC 61508 Mapping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Manual verification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Automatic per calculation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Recovery Capability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Manual/untested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Tested, verified, automated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Regulatory Defense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"We assessed it"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"14.2 M </a:t>
                      </a:r>
                      <a:r>
                        <a:rPr lang="en-US" dirty="0"/>
                        <a:t>proof </a:t>
                      </a:r>
                      <a:r>
                        <a:rPr lang="en-US" dirty="0" smtClean="0"/>
                        <a:t>entries available"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Cost-Benefit Analysis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Qualitative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Quantitative (ROI calculation)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Production Integration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Export/manual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Native OPC-UA, MQTT, REST APIs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Usman Zafar PhD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1470025"/>
          </a:xfrm>
        </p:spPr>
        <p:txBody>
          <a:bodyPr/>
          <a:lstStyle/>
          <a:p>
            <a:r>
              <a:rPr lang="en-US" b="1" dirty="0" smtClean="0">
                <a:solidFill>
                  <a:srgbClr val="FFC000"/>
                </a:solidFill>
              </a:rPr>
              <a:t>Motivation of </a:t>
            </a:r>
            <a:r>
              <a:rPr lang="en-US" b="1" dirty="0" smtClean="0">
                <a:solidFill>
                  <a:srgbClr val="FFC000"/>
                </a:solidFill>
              </a:rPr>
              <a:t>SIL 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 SIL(t)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81200"/>
            <a:ext cx="6400800" cy="4114800"/>
          </a:xfrm>
        </p:spPr>
        <p:txBody>
          <a:bodyPr>
            <a:normAutofit fontScale="85000" lnSpcReduction="10000"/>
          </a:bodyPr>
          <a:lstStyle/>
          <a:p>
            <a:endParaRPr lang="en-US" dirty="0" smtClean="0"/>
          </a:p>
          <a:p>
            <a:pPr algn="just"/>
            <a:r>
              <a:rPr lang="en-US" dirty="0" smtClean="0">
                <a:solidFill>
                  <a:srgbClr val="FFC000"/>
                </a:solidFill>
              </a:rPr>
              <a:t>Consider SIL10 now, or wait for an incident to force a 360‑degree realization. One path is proactive and other is painful. </a:t>
            </a:r>
          </a:p>
          <a:p>
            <a:pPr algn="just"/>
            <a:endParaRPr lang="en-US" dirty="0">
              <a:solidFill>
                <a:srgbClr val="FFC000"/>
              </a:solidFill>
            </a:endParaRPr>
          </a:p>
          <a:p>
            <a:pPr algn="just"/>
            <a:r>
              <a:rPr lang="en-US" dirty="0" smtClean="0">
                <a:solidFill>
                  <a:srgbClr val="FFC000"/>
                </a:solidFill>
              </a:rPr>
              <a:t>It Measured in:</a:t>
            </a:r>
          </a:p>
          <a:p>
            <a:pPr algn="just"/>
            <a:r>
              <a:rPr lang="en-US" dirty="0" smtClean="0">
                <a:solidFill>
                  <a:srgbClr val="FFC000"/>
                </a:solidFill>
              </a:rPr>
              <a:t>Loss of life, </a:t>
            </a:r>
          </a:p>
          <a:p>
            <a:pPr algn="just"/>
            <a:r>
              <a:rPr lang="en-US" dirty="0" smtClean="0">
                <a:solidFill>
                  <a:srgbClr val="FFC000"/>
                </a:solidFill>
              </a:rPr>
              <a:t>Loss of money, </a:t>
            </a:r>
          </a:p>
          <a:p>
            <a:pPr algn="just"/>
            <a:r>
              <a:rPr lang="en-US" dirty="0" smtClean="0">
                <a:solidFill>
                  <a:srgbClr val="FFC000"/>
                </a:solidFill>
              </a:rPr>
              <a:t>Adverse consequences no plant can afford.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Usman Zafar PhD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 1 = Main Dash Board 1/2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Plant-wide safety health at a glance</a:t>
            </a:r>
            <a:br>
              <a:rPr lang="en-US" dirty="0" smtClean="0"/>
            </a:br>
            <a:r>
              <a:rPr lang="en-US" b="1" dirty="0" smtClean="0"/>
              <a:t>Shows:</a:t>
            </a:r>
            <a:r>
              <a:rPr lang="en-US" dirty="0" smtClean="0"/>
              <a:t> Risk score (%), loop count by SIL, alert feed, 90-day trend</a:t>
            </a:r>
            <a:br>
              <a:rPr lang="en-US" dirty="0" smtClean="0"/>
            </a:br>
            <a:r>
              <a:rPr lang="en-US" b="1" dirty="0" smtClean="0"/>
              <a:t>Graphs:</a:t>
            </a:r>
            <a:r>
              <a:rPr lang="en-US" dirty="0" smtClean="0"/>
              <a:t> Risk timeline, SIL distribution (donut), alert feed</a:t>
            </a:r>
            <a:br>
              <a:rPr lang="en-US" dirty="0" smtClean="0"/>
            </a:br>
            <a:r>
              <a:rPr lang="en-US" b="1" dirty="0" smtClean="0"/>
              <a:t>Live Connection:</a:t>
            </a:r>
            <a:r>
              <a:rPr lang="en-US" dirty="0" smtClean="0"/>
              <a:t> Real-time, &lt;2 sec latency (Kafka Data </a:t>
            </a:r>
            <a:r>
              <a:rPr lang="en-US" dirty="0"/>
              <a:t>E</a:t>
            </a:r>
            <a:r>
              <a:rPr lang="en-US" dirty="0" smtClean="0"/>
              <a:t>ngineering)</a:t>
            </a:r>
            <a:endParaRPr lang="en-US" dirty="0"/>
          </a:p>
        </p:txBody>
      </p:sp>
      <p:pic>
        <p:nvPicPr>
          <p:cNvPr id="11" name="Picture Placeholder 10" descr="sil10-1.jp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01" r="337"/>
          <a:stretch>
            <a:fillRect/>
          </a:stretch>
        </p:blipFill>
        <p:spPr>
          <a:xfrm>
            <a:off x="304800" y="612775"/>
            <a:ext cx="8458200" cy="4114800"/>
          </a:xfrm>
        </p:spPr>
      </p:pic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Usman Zafar PhD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 1 = Main Dash Board 2/2</a:t>
            </a:r>
            <a:endParaRPr lang="en-US" dirty="0"/>
          </a:p>
        </p:txBody>
      </p:sp>
      <p:pic>
        <p:nvPicPr>
          <p:cNvPr id="5" name="Picture Placeholder 4" descr="sil10-2.jp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93" r="-448"/>
          <a:stretch>
            <a:fillRect/>
          </a:stretch>
        </p:blipFill>
        <p:spPr>
          <a:xfrm>
            <a:off x="228600" y="612775"/>
            <a:ext cx="8686800" cy="411480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957262"/>
          </a:xfrm>
        </p:spPr>
        <p:txBody>
          <a:bodyPr>
            <a:normAutofit/>
          </a:bodyPr>
          <a:lstStyle/>
          <a:p>
            <a:r>
              <a:rPr lang="en-US" dirty="0" smtClean="0"/>
              <a:t>Plant-wide safety health at a glance</a:t>
            </a:r>
            <a:br>
              <a:rPr lang="en-US" dirty="0" smtClean="0"/>
            </a:br>
            <a:r>
              <a:rPr lang="en-US" b="1" dirty="0" smtClean="0"/>
              <a:t>Shows:</a:t>
            </a:r>
            <a:r>
              <a:rPr lang="en-US" dirty="0" smtClean="0"/>
              <a:t> Risk score (%), loop count by SIL, alert feed, 90-day trend</a:t>
            </a:r>
            <a:br>
              <a:rPr lang="en-US" dirty="0" smtClean="0"/>
            </a:br>
            <a:r>
              <a:rPr lang="en-US" b="1" dirty="0" smtClean="0"/>
              <a:t>Graphs:</a:t>
            </a:r>
            <a:r>
              <a:rPr lang="en-US" dirty="0" smtClean="0"/>
              <a:t> Risk timeline, SIL distribution (donut), alert feed</a:t>
            </a:r>
            <a:br>
              <a:rPr lang="en-US" dirty="0" smtClean="0"/>
            </a:br>
            <a:r>
              <a:rPr lang="en-US" b="1" dirty="0" smtClean="0"/>
              <a:t>Live Connection:</a:t>
            </a:r>
            <a:r>
              <a:rPr lang="en-US" dirty="0" smtClean="0"/>
              <a:t> Real-time, &lt;2 sec latency (Kafka Data Engineering)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Usman Zafar PhD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 2 = Reliability Analysis 1/2</a:t>
            </a:r>
            <a:endParaRPr lang="en-US" dirty="0"/>
          </a:p>
        </p:txBody>
      </p:sp>
      <p:pic>
        <p:nvPicPr>
          <p:cNvPr id="5" name="Picture Placeholder 4" descr="sil10-3.jp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090" r="-635"/>
          <a:stretch>
            <a:fillRect/>
          </a:stretch>
        </p:blipFill>
        <p:spPr>
          <a:xfrm>
            <a:off x="304800" y="612775"/>
            <a:ext cx="8610600" cy="411480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1033462"/>
          </a:xfrm>
        </p:spPr>
        <p:txBody>
          <a:bodyPr>
            <a:normAutofit/>
          </a:bodyPr>
          <a:lstStyle/>
          <a:p>
            <a:r>
              <a:rPr lang="en-US" b="1" dirty="0" smtClean="0"/>
              <a:t>What:</a:t>
            </a:r>
            <a:r>
              <a:rPr lang="en-US" dirty="0" smtClean="0"/>
              <a:t> Why is SIL degrading? Detailed component breakdown</a:t>
            </a:r>
            <a:br>
              <a:rPr lang="en-US" dirty="0" smtClean="0"/>
            </a:br>
            <a:r>
              <a:rPr lang="en-US" b="1" dirty="0" smtClean="0"/>
              <a:t>Shows:</a:t>
            </a:r>
            <a:r>
              <a:rPr lang="en-US" dirty="0" smtClean="0"/>
              <a:t> </a:t>
            </a:r>
            <a:r>
              <a:rPr lang="el-GR" dirty="0" smtClean="0"/>
              <a:t>λ_</a:t>
            </a:r>
            <a:r>
              <a:rPr lang="en-US" dirty="0" smtClean="0"/>
              <a:t>D, DC, </a:t>
            </a:r>
            <a:r>
              <a:rPr lang="el-GR" dirty="0" smtClean="0"/>
              <a:t>β, 5 </a:t>
            </a:r>
            <a:r>
              <a:rPr lang="en-US" dirty="0" smtClean="0"/>
              <a:t>degradation factors per channel, 1oo2 effectiveness</a:t>
            </a:r>
            <a:br>
              <a:rPr lang="en-US" dirty="0" smtClean="0"/>
            </a:br>
            <a:r>
              <a:rPr lang="en-US" b="1" dirty="0" smtClean="0"/>
              <a:t>Graphs:</a:t>
            </a:r>
            <a:r>
              <a:rPr lang="en-US" dirty="0" smtClean="0"/>
              <a:t> Hazard rate evolution, factor stacking chart, DC drift, </a:t>
            </a:r>
            <a:r>
              <a:rPr lang="el-GR" dirty="0" smtClean="0"/>
              <a:t>β(</a:t>
            </a:r>
            <a:r>
              <a:rPr lang="en-US" dirty="0" smtClean="0"/>
              <a:t>t) coupling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Usman Zafar PhD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 2 = Reliability Analysis 2/2</a:t>
            </a:r>
            <a:endParaRPr lang="en-US" dirty="0"/>
          </a:p>
        </p:txBody>
      </p:sp>
      <p:pic>
        <p:nvPicPr>
          <p:cNvPr id="5" name="Picture Placeholder 4" descr="sil10-4.jp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-568" r="-1006"/>
          <a:stretch>
            <a:fillRect/>
          </a:stretch>
        </p:blipFill>
        <p:spPr>
          <a:xfrm>
            <a:off x="381000" y="612775"/>
            <a:ext cx="8458200" cy="411480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1033462"/>
          </a:xfrm>
        </p:spPr>
        <p:txBody>
          <a:bodyPr>
            <a:normAutofit/>
          </a:bodyPr>
          <a:lstStyle/>
          <a:p>
            <a:r>
              <a:rPr lang="en-US" b="1" dirty="0" smtClean="0"/>
              <a:t>What:</a:t>
            </a:r>
            <a:r>
              <a:rPr lang="en-US" dirty="0" smtClean="0"/>
              <a:t> Why is SIL degrading? Detailed component breakdown</a:t>
            </a:r>
            <a:br>
              <a:rPr lang="en-US" dirty="0" smtClean="0"/>
            </a:br>
            <a:r>
              <a:rPr lang="en-US" b="1" dirty="0" smtClean="0"/>
              <a:t>Shows:</a:t>
            </a:r>
            <a:r>
              <a:rPr lang="en-US" dirty="0" smtClean="0"/>
              <a:t> </a:t>
            </a:r>
            <a:r>
              <a:rPr lang="el-GR" dirty="0" smtClean="0"/>
              <a:t>λ_</a:t>
            </a:r>
            <a:r>
              <a:rPr lang="en-US" dirty="0" smtClean="0"/>
              <a:t>D, DC, </a:t>
            </a:r>
            <a:r>
              <a:rPr lang="el-GR" dirty="0" smtClean="0"/>
              <a:t>β, 5 </a:t>
            </a:r>
            <a:r>
              <a:rPr lang="en-US" dirty="0" smtClean="0"/>
              <a:t>degradation factors per channel, 1oo2 effectiveness</a:t>
            </a:r>
            <a:br>
              <a:rPr lang="en-US" dirty="0" smtClean="0"/>
            </a:br>
            <a:r>
              <a:rPr lang="en-US" b="1" dirty="0" smtClean="0"/>
              <a:t>Graphs:</a:t>
            </a:r>
            <a:r>
              <a:rPr lang="en-US" dirty="0" smtClean="0"/>
              <a:t> Hazard rate evolution, factor stacking chart, DC drift, </a:t>
            </a:r>
            <a:r>
              <a:rPr lang="el-GR" dirty="0" smtClean="0"/>
              <a:t>β(</a:t>
            </a:r>
            <a:r>
              <a:rPr lang="en-US" dirty="0" smtClean="0"/>
              <a:t>t) coupling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Usman Zafar PhD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 3: NETWORK CASCADE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1338262"/>
          </a:xfrm>
        </p:spPr>
        <p:txBody>
          <a:bodyPr>
            <a:normAutofit/>
          </a:bodyPr>
          <a:lstStyle/>
          <a:p>
            <a:r>
              <a:rPr lang="en-US" b="1" dirty="0" smtClean="0"/>
              <a:t>What:</a:t>
            </a:r>
            <a:r>
              <a:rPr lang="en-US" dirty="0" smtClean="0"/>
              <a:t> If component X fails, what else dies?</a:t>
            </a:r>
            <a:br>
              <a:rPr lang="en-US" dirty="0" smtClean="0"/>
            </a:br>
            <a:r>
              <a:rPr lang="en-US" b="1" dirty="0" smtClean="0"/>
              <a:t>Shows:</a:t>
            </a:r>
            <a:r>
              <a:rPr lang="en-US" dirty="0" smtClean="0"/>
              <a:t> Dependency graph (component → loop → plant), cascade impact (SIL drops), vulnerability score</a:t>
            </a:r>
            <a:br>
              <a:rPr lang="en-US" dirty="0" smtClean="0"/>
            </a:br>
            <a:r>
              <a:rPr lang="en-US" b="1" dirty="0" smtClean="0"/>
              <a:t>Graphs:</a:t>
            </a:r>
            <a:r>
              <a:rPr lang="en-US" dirty="0" smtClean="0"/>
              <a:t> Network topology map, failure impact analysis, timeline to criticality</a:t>
            </a:r>
            <a:endParaRPr lang="en-US" dirty="0"/>
          </a:p>
        </p:txBody>
      </p:sp>
      <p:pic>
        <p:nvPicPr>
          <p:cNvPr id="7" name="Picture Placeholder 6" descr="sil10-6.jp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18" r="155"/>
          <a:stretch>
            <a:fillRect/>
          </a:stretch>
        </p:blipFill>
        <p:spPr>
          <a:xfrm>
            <a:off x="152400" y="612775"/>
            <a:ext cx="8763000" cy="4114800"/>
          </a:xfr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Usman Zafar PhD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 4: ADVISORY FORECAST</a:t>
            </a:r>
            <a:endParaRPr lang="en-US" dirty="0"/>
          </a:p>
        </p:txBody>
      </p:sp>
      <p:pic>
        <p:nvPicPr>
          <p:cNvPr id="5" name="Picture Placeholder 4" descr="sil10-5.jp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-1709" r="-1217"/>
          <a:stretch>
            <a:fillRect/>
          </a:stretch>
        </p:blipFill>
        <p:spPr>
          <a:xfrm>
            <a:off x="457200" y="609600"/>
            <a:ext cx="8305800" cy="411480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1185862"/>
          </a:xfrm>
        </p:spPr>
        <p:txBody>
          <a:bodyPr>
            <a:normAutofit/>
          </a:bodyPr>
          <a:lstStyle/>
          <a:p>
            <a:r>
              <a:rPr lang="en-US" b="1" dirty="0" smtClean="0"/>
              <a:t>What:</a:t>
            </a:r>
            <a:r>
              <a:rPr lang="en-US" dirty="0" smtClean="0"/>
              <a:t> What will SIL be in 36 months? What should you do?</a:t>
            </a:r>
            <a:br>
              <a:rPr lang="en-US" dirty="0" smtClean="0"/>
            </a:br>
            <a:r>
              <a:rPr lang="en-US" b="1" dirty="0" smtClean="0"/>
              <a:t>Shows:</a:t>
            </a:r>
            <a:r>
              <a:rPr lang="en-US" dirty="0" smtClean="0"/>
              <a:t> SIL trajectory, uncertainty bands (5th-95th %</a:t>
            </a:r>
            <a:r>
              <a:rPr lang="en-US" dirty="0" err="1" smtClean="0"/>
              <a:t>ile</a:t>
            </a:r>
            <a:r>
              <a:rPr lang="en-US" dirty="0" smtClean="0"/>
              <a:t>), action plan with cost/ROI</a:t>
            </a:r>
            <a:br>
              <a:rPr lang="en-US" dirty="0" smtClean="0"/>
            </a:br>
            <a:r>
              <a:rPr lang="en-US" b="1" dirty="0" smtClean="0"/>
              <a:t>Graphs:</a:t>
            </a:r>
            <a:r>
              <a:rPr lang="en-US" dirty="0" smtClean="0"/>
              <a:t> SIL forecast curve, Monte Carlo distribution (100 scenarios), recommendation panel, intervention impact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Usman Zafar PhD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 5: GOVERNANCE</a:t>
            </a:r>
            <a:endParaRPr lang="en-US" dirty="0"/>
          </a:p>
        </p:txBody>
      </p:sp>
      <p:pic>
        <p:nvPicPr>
          <p:cNvPr id="5" name="Picture Placeholder 4" descr="sil10-7.jp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838" r="1713"/>
          <a:stretch>
            <a:fillRect/>
          </a:stretch>
        </p:blipFill>
        <p:spPr>
          <a:xfrm>
            <a:off x="152400" y="609600"/>
            <a:ext cx="8839200" cy="411480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1185862"/>
          </a:xfrm>
        </p:spPr>
        <p:txBody>
          <a:bodyPr>
            <a:normAutofit/>
          </a:bodyPr>
          <a:lstStyle/>
          <a:p>
            <a:r>
              <a:rPr lang="en-US" b="1" dirty="0" smtClean="0"/>
              <a:t>What:</a:t>
            </a:r>
            <a:r>
              <a:rPr lang="en-US" dirty="0" smtClean="0"/>
              <a:t> Prove to auditors you're monitoring continuously</a:t>
            </a:r>
            <a:br>
              <a:rPr lang="en-US" dirty="0" smtClean="0"/>
            </a:br>
            <a:r>
              <a:rPr lang="en-US" b="1" dirty="0" smtClean="0"/>
              <a:t>Shows:</a:t>
            </a:r>
            <a:r>
              <a:rPr lang="en-US" dirty="0" smtClean="0"/>
              <a:t> Compliance status, monitoring duration, calculation count, alert/action logs, SIL maintenance score</a:t>
            </a:r>
            <a:br>
              <a:rPr lang="en-US" dirty="0" smtClean="0"/>
            </a:br>
            <a:r>
              <a:rPr lang="en-US" b="1" dirty="0" smtClean="0"/>
              <a:t>Graphs:</a:t>
            </a:r>
            <a:r>
              <a:rPr lang="en-US" dirty="0" smtClean="0"/>
              <a:t> Compliance timeline, governance status panel, metrics dashboard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Usman Zafar PhD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 6: AUDIT LOG</a:t>
            </a:r>
            <a:endParaRPr lang="en-US" dirty="0"/>
          </a:p>
        </p:txBody>
      </p:sp>
      <p:pic>
        <p:nvPicPr>
          <p:cNvPr id="5" name="Picture Placeholder 4" descr="sil10-8.jp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-921" r="469"/>
          <a:stretch>
            <a:fillRect/>
          </a:stretch>
        </p:blipFill>
        <p:spPr>
          <a:xfrm>
            <a:off x="304800" y="609600"/>
            <a:ext cx="8382000" cy="411480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1109662"/>
          </a:xfrm>
        </p:spPr>
        <p:txBody>
          <a:bodyPr>
            <a:normAutofit/>
          </a:bodyPr>
          <a:lstStyle/>
          <a:p>
            <a:r>
              <a:rPr lang="en-US" b="1" dirty="0" smtClean="0"/>
              <a:t>What:</a:t>
            </a:r>
            <a:r>
              <a:rPr lang="en-US" dirty="0" smtClean="0"/>
              <a:t> Immutable record of every decision (SHA-256 hashed)</a:t>
            </a:r>
            <a:br>
              <a:rPr lang="en-US" dirty="0" smtClean="0"/>
            </a:br>
            <a:r>
              <a:rPr lang="en-US" b="1" dirty="0" smtClean="0"/>
              <a:t>Shows:</a:t>
            </a:r>
            <a:r>
              <a:rPr lang="en-US" dirty="0" smtClean="0"/>
              <a:t> Complete calculation history, input state, output state, change from previous, hash chain verification</a:t>
            </a:r>
            <a:br>
              <a:rPr lang="en-US" dirty="0" smtClean="0"/>
            </a:br>
            <a:r>
              <a:rPr lang="en-US" b="1" dirty="0" smtClean="0"/>
              <a:t>Graphs:</a:t>
            </a:r>
            <a:r>
              <a:rPr lang="en-US" dirty="0" smtClean="0"/>
              <a:t> Timeline browser, entry detail view, data integrity verification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Usman Zafar PhD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 7: RECOVERY</a:t>
            </a:r>
            <a:endParaRPr lang="en-US" dirty="0"/>
          </a:p>
        </p:txBody>
      </p:sp>
      <p:pic>
        <p:nvPicPr>
          <p:cNvPr id="5" name="Picture Placeholder 4" descr="sil10-9.jp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604" r="155"/>
          <a:stretch>
            <a:fillRect/>
          </a:stretch>
        </p:blipFill>
        <p:spPr>
          <a:xfrm>
            <a:off x="304800" y="612775"/>
            <a:ext cx="8077200" cy="411480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1262062"/>
          </a:xfrm>
        </p:spPr>
        <p:txBody>
          <a:bodyPr>
            <a:normAutofit/>
          </a:bodyPr>
          <a:lstStyle/>
          <a:p>
            <a:r>
              <a:rPr lang="en-US" b="1" dirty="0" smtClean="0"/>
              <a:t>What:</a:t>
            </a:r>
            <a:r>
              <a:rPr lang="en-US" dirty="0" smtClean="0"/>
              <a:t> System crashed? How do we restore?</a:t>
            </a:r>
            <a:br>
              <a:rPr lang="en-US" dirty="0" smtClean="0"/>
            </a:br>
            <a:r>
              <a:rPr lang="en-US" b="1" dirty="0" smtClean="0"/>
              <a:t>Shows:</a:t>
            </a:r>
            <a:r>
              <a:rPr lang="en-US" dirty="0" smtClean="0"/>
              <a:t> Backup status (</a:t>
            </a:r>
            <a:r>
              <a:rPr lang="en-US" dirty="0" err="1" smtClean="0"/>
              <a:t>PostgreSQL</a:t>
            </a:r>
            <a:r>
              <a:rPr lang="en-US" dirty="0" smtClean="0"/>
              <a:t>, </a:t>
            </a:r>
            <a:r>
              <a:rPr lang="en-US" dirty="0" err="1" smtClean="0"/>
              <a:t>InfluxDB</a:t>
            </a:r>
            <a:r>
              <a:rPr lang="en-US" dirty="0" smtClean="0"/>
              <a:t>, Kafka), RTO/RPO, recovery procedures, integrity verification</a:t>
            </a:r>
            <a:br>
              <a:rPr lang="en-US" dirty="0" smtClean="0"/>
            </a:br>
            <a:r>
              <a:rPr lang="en-US" b="1" dirty="0" smtClean="0"/>
              <a:t>Graphs:</a:t>
            </a:r>
            <a:r>
              <a:rPr lang="en-US" dirty="0" smtClean="0"/>
              <a:t> Backup timeline, restoration procedure flow, Kafka offset tracking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Usman Zafar PhD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TAB 8: IEC 61508 PFD</a:t>
            </a:r>
            <a:r>
              <a:rPr lang="en-US" dirty="0" smtClean="0"/>
              <a:t> 1/3</a:t>
            </a:r>
            <a:endParaRPr lang="en-US" dirty="0"/>
          </a:p>
        </p:txBody>
      </p:sp>
      <p:pic>
        <p:nvPicPr>
          <p:cNvPr id="5" name="Picture Placeholder 4" descr="sil10-10.jp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03" r="591"/>
          <a:stretch>
            <a:fillRect/>
          </a:stretch>
        </p:blipFill>
        <p:spPr>
          <a:xfrm>
            <a:off x="304800" y="612775"/>
            <a:ext cx="8077200" cy="411480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1338262"/>
          </a:xfrm>
        </p:spPr>
        <p:txBody>
          <a:bodyPr>
            <a:normAutofit/>
          </a:bodyPr>
          <a:lstStyle/>
          <a:p>
            <a:r>
              <a:rPr lang="en-US" b="1" dirty="0" smtClean="0"/>
              <a:t>What:</a:t>
            </a:r>
            <a:r>
              <a:rPr lang="en-US" dirty="0" smtClean="0"/>
              <a:t> Translate our calculations to official IEC 61508 terminology</a:t>
            </a:r>
            <a:br>
              <a:rPr lang="en-US" dirty="0" smtClean="0"/>
            </a:br>
            <a:r>
              <a:rPr lang="en-US" b="1" dirty="0" smtClean="0"/>
              <a:t>Shows:</a:t>
            </a:r>
            <a:r>
              <a:rPr lang="en-US" dirty="0" smtClean="0"/>
              <a:t> Formula mapping, step-by-step calculation per IEC standard, SIL classification audit certificate</a:t>
            </a:r>
            <a:br>
              <a:rPr lang="en-US" dirty="0" smtClean="0"/>
            </a:br>
            <a:r>
              <a:rPr lang="en-US" b="1" dirty="0" smtClean="0"/>
              <a:t>Graphs:</a:t>
            </a:r>
            <a:r>
              <a:rPr lang="en-US" dirty="0" smtClean="0"/>
              <a:t> Formula reference display, compliance checklist, architecture-specific calculation flow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Usman Zafar PhD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TAB 8: IEC 61508 PFD</a:t>
            </a:r>
            <a:r>
              <a:rPr lang="en-US" dirty="0" smtClean="0"/>
              <a:t> 2/3</a:t>
            </a:r>
            <a:endParaRPr lang="en-US" dirty="0"/>
          </a:p>
        </p:txBody>
      </p:sp>
      <p:pic>
        <p:nvPicPr>
          <p:cNvPr id="5" name="Picture Placeholder 4" descr="sil10-11.jp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83" r="-339"/>
          <a:stretch>
            <a:fillRect/>
          </a:stretch>
        </p:blipFill>
        <p:spPr>
          <a:xfrm>
            <a:off x="990600" y="609600"/>
            <a:ext cx="7620000" cy="411480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1109662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What:</a:t>
            </a:r>
            <a:r>
              <a:rPr lang="en-US" dirty="0" smtClean="0"/>
              <a:t> Translate our calculations to official IEC 61508 terminology</a:t>
            </a:r>
            <a:br>
              <a:rPr lang="en-US" dirty="0" smtClean="0"/>
            </a:br>
            <a:r>
              <a:rPr lang="en-US" b="1" dirty="0" smtClean="0"/>
              <a:t>Shows:</a:t>
            </a:r>
            <a:r>
              <a:rPr lang="en-US" dirty="0" smtClean="0"/>
              <a:t> Formula mapping, step-by-step calculation per IEC standard, SIL classification audit certificate</a:t>
            </a:r>
            <a:br>
              <a:rPr lang="en-US" dirty="0" smtClean="0"/>
            </a:br>
            <a:r>
              <a:rPr lang="en-US" b="1" dirty="0" smtClean="0"/>
              <a:t>Graphs:</a:t>
            </a:r>
            <a:r>
              <a:rPr lang="en-US" dirty="0" smtClean="0"/>
              <a:t> Formula reference display, compliance checklist, architecture-specific calculation flow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Usman Zafar PhD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TAB 8: IEC 61508 PFD</a:t>
            </a:r>
            <a:r>
              <a:rPr lang="en-US" dirty="0" smtClean="0"/>
              <a:t> 3/3</a:t>
            </a:r>
            <a:endParaRPr lang="en-US" dirty="0"/>
          </a:p>
        </p:txBody>
      </p:sp>
      <p:pic>
        <p:nvPicPr>
          <p:cNvPr id="5" name="Picture Placeholder 4" descr="sil10-12.jp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15" r="-331"/>
          <a:stretch>
            <a:fillRect/>
          </a:stretch>
        </p:blipFill>
        <p:spPr>
          <a:xfrm>
            <a:off x="228600" y="609600"/>
            <a:ext cx="8534400" cy="411480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1185862"/>
          </a:xfrm>
        </p:spPr>
        <p:txBody>
          <a:bodyPr>
            <a:normAutofit/>
          </a:bodyPr>
          <a:lstStyle/>
          <a:p>
            <a:r>
              <a:rPr lang="en-US" b="1" dirty="0" smtClean="0"/>
              <a:t>What:</a:t>
            </a:r>
            <a:r>
              <a:rPr lang="en-US" dirty="0" smtClean="0"/>
              <a:t> Translate our calculations to official IEC 61508 terminology</a:t>
            </a:r>
            <a:br>
              <a:rPr lang="en-US" dirty="0" smtClean="0"/>
            </a:br>
            <a:r>
              <a:rPr lang="en-US" b="1" dirty="0" smtClean="0"/>
              <a:t>Shows:</a:t>
            </a:r>
            <a:r>
              <a:rPr lang="en-US" dirty="0" smtClean="0"/>
              <a:t> Formula mapping, step-by-step calculation per IEC standard, SIL classification audit certificate</a:t>
            </a:r>
            <a:br>
              <a:rPr lang="en-US" dirty="0" smtClean="0"/>
            </a:br>
            <a:r>
              <a:rPr lang="en-US" b="1" dirty="0" smtClean="0"/>
              <a:t>Graphs:</a:t>
            </a:r>
            <a:r>
              <a:rPr lang="en-US" dirty="0" smtClean="0"/>
              <a:t> Formula reference display, compliance checklist, architecture-specific calculation flow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Usman Zafar PhD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 9: DYNAMIC SIL(t)</a:t>
            </a:r>
            <a:endParaRPr lang="en-US" dirty="0"/>
          </a:p>
        </p:txBody>
      </p:sp>
      <p:pic>
        <p:nvPicPr>
          <p:cNvPr id="5" name="Picture Placeholder 4" descr="sil10-13.jp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-972" r="-444"/>
          <a:stretch>
            <a:fillRect/>
          </a:stretch>
        </p:blipFill>
        <p:spPr>
          <a:xfrm>
            <a:off x="685800" y="685800"/>
            <a:ext cx="7620000" cy="411480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1338262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What:</a:t>
            </a:r>
            <a:r>
              <a:rPr lang="en-US" dirty="0" smtClean="0"/>
              <a:t> Not "what is SIL today" but "what will SIL be" → strategic vision for 36 months</a:t>
            </a:r>
            <a:br>
              <a:rPr lang="en-US" dirty="0" smtClean="0"/>
            </a:br>
            <a:r>
              <a:rPr lang="en-US" b="1" dirty="0" smtClean="0"/>
              <a:t>Shows:</a:t>
            </a:r>
            <a:r>
              <a:rPr lang="en-US" dirty="0" smtClean="0"/>
              <a:t> SIL trajectory with decision gates, uncertainty bands, critical thresholds marked, year-by-year snapshots</a:t>
            </a:r>
            <a:br>
              <a:rPr lang="en-US" dirty="0" smtClean="0"/>
            </a:br>
            <a:r>
              <a:rPr lang="en-US" b="1" dirty="0" smtClean="0"/>
              <a:t>Graphs:</a:t>
            </a:r>
            <a:r>
              <a:rPr lang="en-US" dirty="0" smtClean="0"/>
              <a:t> Main SIL(t) trajectory, Monte Carlo distribution, comparison (today </a:t>
            </a:r>
            <a:r>
              <a:rPr lang="en-US" dirty="0" err="1" smtClean="0"/>
              <a:t>vs</a:t>
            </a:r>
            <a:r>
              <a:rPr lang="en-US" dirty="0" smtClean="0"/>
              <a:t> year 1 </a:t>
            </a:r>
            <a:r>
              <a:rPr lang="en-US" dirty="0" err="1" smtClean="0"/>
              <a:t>vs</a:t>
            </a:r>
            <a:r>
              <a:rPr lang="en-US" dirty="0" smtClean="0"/>
              <a:t> year 5), intervention impact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96000" y="6324600"/>
            <a:ext cx="2895600" cy="365125"/>
          </a:xfrm>
        </p:spPr>
        <p:txBody>
          <a:bodyPr/>
          <a:lstStyle/>
          <a:p>
            <a:r>
              <a:rPr lang="en-US" dirty="0" smtClean="0"/>
              <a:t>by Usman Zafar PhD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</TotalTime>
  <Words>584</Words>
  <Application>Microsoft Office PowerPoint</Application>
  <PresentationFormat>On-screen Show (4:3)</PresentationFormat>
  <Paragraphs>111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SIL10: APPLICATION Details available at zulfr.com </vt:lpstr>
      <vt:lpstr>Market Comparison Matrix</vt:lpstr>
      <vt:lpstr>Market Comparison Matrix</vt:lpstr>
      <vt:lpstr>Motivation of SIL  SIL(t)</vt:lpstr>
      <vt:lpstr>Tab 1 = Main Dash Board 1/2</vt:lpstr>
      <vt:lpstr>Tab 1 = Main Dash Board 2/2</vt:lpstr>
      <vt:lpstr>Tab 2 = Reliability Analysis 1/2</vt:lpstr>
      <vt:lpstr>Tab 2 = Reliability Analysis 2/2</vt:lpstr>
      <vt:lpstr>TAB 3: NETWORK CASCADE</vt:lpstr>
      <vt:lpstr>TAB 4: ADVISORY FORECAST</vt:lpstr>
      <vt:lpstr>TAB 5: GOVERNANCE</vt:lpstr>
      <vt:lpstr>TAB 6: AUDIT LOG</vt:lpstr>
      <vt:lpstr>TAB 7: RECOVERY</vt:lpstr>
      <vt:lpstr>TAB 8: IEC 61508 PFD 1/3</vt:lpstr>
      <vt:lpstr>TAB 8: IEC 61508 PFD 2/3</vt:lpstr>
      <vt:lpstr>TAB 8: IEC 61508 PFD 3/3</vt:lpstr>
      <vt:lpstr>TAB 9: DYNAMIC SIL(t)</vt:lpstr>
    </vt:vector>
  </TitlesOfParts>
  <Company>Deftones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SIL10: APPLICATION Details available at zulfr.com</dc:title>
  <dc:creator>T470</dc:creator>
  <cp:lastModifiedBy>T470</cp:lastModifiedBy>
  <cp:revision>2</cp:revision>
  <dcterms:created xsi:type="dcterms:W3CDTF">2026-03-07T08:18:32Z</dcterms:created>
  <dcterms:modified xsi:type="dcterms:W3CDTF">2026-03-07T10:36:03Z</dcterms:modified>
</cp:coreProperties>
</file>